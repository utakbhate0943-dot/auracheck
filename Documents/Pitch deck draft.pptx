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9144000"/>
  <p:embeddedFontLst>
    <p:embeddedFont>
      <p:font typeface="Lobster"/>
      <p:regular r:id="rId20"/>
    </p:embeddedFont>
    <p:embeddedFont>
      <p:font typeface="Oswald"/>
      <p:regular r:id="rId21"/>
      <p:bold r:id="rId22"/>
    </p:embeddedFont>
    <p:embeddedFont>
      <p:font typeface="Comfortaa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hDCSWTJcXT0CzNN+t9UbCba88V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obster-regular.fntdata"/><Relationship Id="rId22" Type="http://schemas.openxmlformats.org/officeDocument/2006/relationships/font" Target="fonts/Oswald-bold.fntdata"/><Relationship Id="rId21" Type="http://schemas.openxmlformats.org/officeDocument/2006/relationships/font" Target="fonts/Oswald-regular.fntdata"/><Relationship Id="rId24" Type="http://schemas.openxmlformats.org/officeDocument/2006/relationships/font" Target="fonts/Comfortaa-bold.fntdata"/><Relationship Id="rId23" Type="http://schemas.openxmlformats.org/officeDocument/2006/relationships/font" Target="fonts/Comfortaa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86b4e2035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g386b4e2035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86ca36e46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86ca36e46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86ca36e46c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86ca36e46c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86ca36e46c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86ca36e46c_0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86b4e20355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g386b4e20355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c46a8fbef7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g3c46a8fbef7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c46a8fbef7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0" name="Google Shape;190;g3c46a8fbef7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c4cb5dd65e_1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c4cb5dd65e_1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c4cb5dd65e_1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c4cb5dd65e_1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c4cb5dd65e_1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c4cb5dd65e_1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c4cb5dd65e_1_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c4cb5dd65e_1_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3c4cb5dd65e_1_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86b4e20355_0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Ask Ryan what he thinks</a:t>
            </a:r>
            <a:endParaRPr/>
          </a:p>
        </p:txBody>
      </p:sp>
      <p:sp>
        <p:nvSpPr>
          <p:cNvPr id="233" name="Google Shape;233;g386b4e20355_0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86b4e20355_0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We’ll compare three non-linear model options: Random Forest for a robust low-friction benchmark; a gradient-boosted model (LightGBM/XGBoost/CatBoost) which I think is our likely top performer; and a small neural network if we need to include any temporal patterns or embeddings. Each model will be evaluated with cross-validation using PR-AUC, and we’ll use try to use SHAP to keep the outputs explainable.</a:t>
            </a:r>
            <a:endParaRPr/>
          </a:p>
        </p:txBody>
      </p:sp>
      <p:sp>
        <p:nvSpPr>
          <p:cNvPr id="243" name="Google Shape;243;g386b4e20355_0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c4cb5dd65e_1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c4cb5dd65e_1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c4cb5dd65e_1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4" name="Google Shape;26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2" name="Google Shape;30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c4cb5dd65e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c4cb5dd65e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g3c4cb5dd65e_0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5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1;p14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Google Shape;32;p14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" name="Google Shape;33;p14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4" name="Google Shape;34;p14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196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5" name="Google Shape;35;p14"/>
            <p:cNvSpPr/>
            <p:nvPr/>
          </p:nvSpPr>
          <p:spPr>
            <a:xfrm>
              <a:off x="9603442" y="-8467"/>
              <a:ext cx="258855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6" name="Google Shape;36;p14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chemeClr val="accent2">
                <a:alpha val="72156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7" name="Google Shape;37;p14"/>
            <p:cNvSpPr/>
            <p:nvPr/>
          </p:nvSpPr>
          <p:spPr>
            <a:xfrm>
              <a:off x="9334500" y="-8467"/>
              <a:ext cx="2854326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14DAA">
                <a:alpha val="70196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8" name="Google Shape;38;p14"/>
            <p:cNvSpPr/>
            <p:nvPr/>
          </p:nvSpPr>
          <p:spPr>
            <a:xfrm>
              <a:off x="10898730" y="-8467"/>
              <a:ext cx="1290094" cy="6866467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CDB4DC">
                <a:alpha val="70196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9" name="Google Shape;39;p14"/>
            <p:cNvSpPr/>
            <p:nvPr/>
          </p:nvSpPr>
          <p:spPr>
            <a:xfrm>
              <a:off x="10938999" y="-8467"/>
              <a:ext cx="1249825" cy="6866467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98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0" name="Google Shape;40;p14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1" name="Google Shape;41;p14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5098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42" name="Google Shape;42;p14"/>
          <p:cNvSpPr txBox="1"/>
          <p:nvPr>
            <p:ph type="ctrTitle"/>
          </p:nvPr>
        </p:nvSpPr>
        <p:spPr>
          <a:xfrm>
            <a:off x="1507067" y="2404534"/>
            <a:ext cx="7766936" cy="16463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rebuchet MS"/>
              <a:buNone/>
              <a:defRPr sz="5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" type="subTitle"/>
          </p:nvPr>
        </p:nvSpPr>
        <p:spPr>
          <a:xfrm>
            <a:off x="1507067" y="4050833"/>
            <a:ext cx="7766936" cy="1096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rgbClr val="7F7F7F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4" name="Google Shape;44;p14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4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4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7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7"/>
          <p:cNvSpPr txBox="1"/>
          <p:nvPr>
            <p:ph idx="1" type="body"/>
          </p:nvPr>
        </p:nvSpPr>
        <p:spPr>
          <a:xfrm>
            <a:off x="677334" y="2160589"/>
            <a:ext cx="4184035" cy="3880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50" name="Google Shape;50;p17"/>
          <p:cNvSpPr txBox="1"/>
          <p:nvPr>
            <p:ph idx="2" type="body"/>
          </p:nvPr>
        </p:nvSpPr>
        <p:spPr>
          <a:xfrm>
            <a:off x="5089970" y="2160589"/>
            <a:ext cx="418403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675745" y="2160983"/>
            <a:ext cx="418562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675745" y="2737245"/>
            <a:ext cx="4185623" cy="3304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58" name="Google Shape;58;p16"/>
          <p:cNvSpPr txBox="1"/>
          <p:nvPr>
            <p:ph idx="3" type="body"/>
          </p:nvPr>
        </p:nvSpPr>
        <p:spPr>
          <a:xfrm>
            <a:off x="5088383" y="2160983"/>
            <a:ext cx="418561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59" name="Google Shape;59;p16"/>
          <p:cNvSpPr txBox="1"/>
          <p:nvPr>
            <p:ph idx="4" type="body"/>
          </p:nvPr>
        </p:nvSpPr>
        <p:spPr>
          <a:xfrm>
            <a:off x="5088384" y="2737245"/>
            <a:ext cx="4185617" cy="3304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6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6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8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8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9"/>
          <p:cNvSpPr txBox="1"/>
          <p:nvPr>
            <p:ph type="title"/>
          </p:nvPr>
        </p:nvSpPr>
        <p:spPr>
          <a:xfrm>
            <a:off x="677335" y="2700867"/>
            <a:ext cx="8596668" cy="1826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rebuchet MS"/>
              <a:buNone/>
              <a:defRPr b="0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" type="body"/>
          </p:nvPr>
        </p:nvSpPr>
        <p:spPr>
          <a:xfrm>
            <a:off x="677335" y="4527448"/>
            <a:ext cx="859666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2" name="Google Shape;72;p19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0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 txBox="1"/>
          <p:nvPr>
            <p:ph type="title"/>
          </p:nvPr>
        </p:nvSpPr>
        <p:spPr>
          <a:xfrm>
            <a:off x="677334" y="1498604"/>
            <a:ext cx="3854528" cy="12784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rebuchet MS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" type="body"/>
          </p:nvPr>
        </p:nvSpPr>
        <p:spPr>
          <a:xfrm>
            <a:off x="4760461" y="514924"/>
            <a:ext cx="4513541" cy="5526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2" type="body"/>
          </p:nvPr>
        </p:nvSpPr>
        <p:spPr>
          <a:xfrm>
            <a:off x="677334" y="2777069"/>
            <a:ext cx="3854528" cy="2584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9pPr>
          </a:lstStyle>
          <a:p/>
        </p:txBody>
      </p:sp>
      <p:sp>
        <p:nvSpPr>
          <p:cNvPr id="84" name="Google Shape;84;p21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1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2"/>
          <p:cNvSpPr txBox="1"/>
          <p:nvPr>
            <p:ph type="title"/>
          </p:nvPr>
        </p:nvSpPr>
        <p:spPr>
          <a:xfrm>
            <a:off x="677334" y="4800600"/>
            <a:ext cx="8596667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rebuchet MS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2"/>
          <p:cNvSpPr/>
          <p:nvPr>
            <p:ph idx="2" type="pic"/>
          </p:nvPr>
        </p:nvSpPr>
        <p:spPr>
          <a:xfrm>
            <a:off x="677334" y="609600"/>
            <a:ext cx="8596668" cy="3845718"/>
          </a:xfrm>
          <a:prstGeom prst="rect">
            <a:avLst/>
          </a:prstGeom>
          <a:noFill/>
          <a:ln>
            <a:noFill/>
          </a:ln>
        </p:spPr>
      </p:sp>
      <p:sp>
        <p:nvSpPr>
          <p:cNvPr id="90" name="Google Shape;90;p22"/>
          <p:cNvSpPr txBox="1"/>
          <p:nvPr>
            <p:ph idx="1" type="body"/>
          </p:nvPr>
        </p:nvSpPr>
        <p:spPr>
          <a:xfrm>
            <a:off x="677334" y="5367338"/>
            <a:ext cx="8596667" cy="674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91" name="Google Shape;91;p22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2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3"/>
          <p:cNvSpPr txBox="1"/>
          <p:nvPr>
            <p:ph type="title"/>
          </p:nvPr>
        </p:nvSpPr>
        <p:spPr>
          <a:xfrm>
            <a:off x="677335" y="609600"/>
            <a:ext cx="8596668" cy="34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3"/>
          <p:cNvSpPr txBox="1"/>
          <p:nvPr>
            <p:ph idx="1" type="body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7" name="Google Shape;97;p23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3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3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4"/>
          <p:cNvSpPr txBox="1"/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4"/>
          <p:cNvSpPr txBox="1"/>
          <p:nvPr>
            <p:ph idx="1" type="body"/>
          </p:nvPr>
        </p:nvSpPr>
        <p:spPr>
          <a:xfrm>
            <a:off x="1366139" y="3632200"/>
            <a:ext cx="7224524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 sz="16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39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03" name="Google Shape;103;p24"/>
          <p:cNvSpPr txBox="1"/>
          <p:nvPr>
            <p:ph idx="2" type="body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4" name="Google Shape;104;p24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4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4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" name="Google Shape;107;p24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CDB4DC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CDB4DC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b="0" i="0" sz="1800" u="none" cap="none" strike="noStrike">
              <a:solidFill>
                <a:srgbClr val="CDB4D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5"/>
          <p:cNvSpPr txBox="1"/>
          <p:nvPr>
            <p:ph type="title"/>
          </p:nvPr>
        </p:nvSpPr>
        <p:spPr>
          <a:xfrm>
            <a:off x="677335" y="1931988"/>
            <a:ext cx="8596668" cy="25954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5"/>
          <p:cNvSpPr txBox="1"/>
          <p:nvPr>
            <p:ph idx="1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2" name="Google Shape;112;p25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5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5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6"/>
          <p:cNvSpPr txBox="1"/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6"/>
          <p:cNvSpPr txBox="1"/>
          <p:nvPr>
            <p:ph idx="1" type="body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39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18" name="Google Shape;118;p26"/>
          <p:cNvSpPr txBox="1"/>
          <p:nvPr>
            <p:ph idx="2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9" name="Google Shape;119;p26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26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6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2" name="Google Shape;122;p26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CDB4DC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6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CDB4DC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7"/>
          <p:cNvSpPr txBox="1"/>
          <p:nvPr>
            <p:ph type="title"/>
          </p:nvPr>
        </p:nvSpPr>
        <p:spPr>
          <a:xfrm>
            <a:off x="685799" y="609600"/>
            <a:ext cx="8588203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7"/>
          <p:cNvSpPr txBox="1"/>
          <p:nvPr>
            <p:ph idx="1" type="body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39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27" name="Google Shape;127;p27"/>
          <p:cNvSpPr txBox="1"/>
          <p:nvPr>
            <p:ph idx="2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8" name="Google Shape;128;p27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7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7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8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8"/>
          <p:cNvSpPr txBox="1"/>
          <p:nvPr>
            <p:ph idx="1" type="body"/>
          </p:nvPr>
        </p:nvSpPr>
        <p:spPr>
          <a:xfrm rot="5400000">
            <a:off x="3035281" y="-197358"/>
            <a:ext cx="3880773" cy="85966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34" name="Google Shape;134;p28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8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8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9"/>
          <p:cNvSpPr txBox="1"/>
          <p:nvPr>
            <p:ph type="title"/>
          </p:nvPr>
        </p:nvSpPr>
        <p:spPr>
          <a:xfrm rot="5400000">
            <a:off x="5994319" y="2582953"/>
            <a:ext cx="5251451" cy="13047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9"/>
          <p:cNvSpPr txBox="1"/>
          <p:nvPr>
            <p:ph idx="1" type="body"/>
          </p:nvPr>
        </p:nvSpPr>
        <p:spPr>
          <a:xfrm rot="5400000">
            <a:off x="1581685" y="-294750"/>
            <a:ext cx="5251450" cy="706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40" name="Google Shape;140;p29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9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9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100000">
              <a:srgbClr val="EDEDED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Google Shape;11;p13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" name="Google Shape;12;p13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" name="Google Shape;13;p13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196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4" name="Google Shape;14;p13"/>
            <p:cNvSpPr/>
            <p:nvPr/>
          </p:nvSpPr>
          <p:spPr>
            <a:xfrm>
              <a:off x="9603442" y="-8467"/>
              <a:ext cx="258855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5" name="Google Shape;15;p1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chemeClr val="accent2">
                <a:alpha val="72156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6" name="Google Shape;16;p13"/>
            <p:cNvSpPr/>
            <p:nvPr/>
          </p:nvSpPr>
          <p:spPr>
            <a:xfrm>
              <a:off x="9334500" y="-8467"/>
              <a:ext cx="2854326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14DAA">
                <a:alpha val="70196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7" name="Google Shape;17;p13"/>
            <p:cNvSpPr/>
            <p:nvPr/>
          </p:nvSpPr>
          <p:spPr>
            <a:xfrm>
              <a:off x="10898730" y="-8467"/>
              <a:ext cx="1290094" cy="6866467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CDB4DC">
                <a:alpha val="70196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8" name="Google Shape;18;p13"/>
            <p:cNvSpPr/>
            <p:nvPr/>
          </p:nvSpPr>
          <p:spPr>
            <a:xfrm>
              <a:off x="10938999" y="-8467"/>
              <a:ext cx="1249825" cy="6866467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98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9" name="Google Shape;19;p13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0" name="Google Shape;20;p13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fmla="val 0" name="adj"/>
              </a:avLst>
            </a:prstGeom>
            <a:solidFill>
              <a:schemeClr val="accent1">
                <a:alpha val="85098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21" name="Google Shape;21;p13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13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0988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99719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8956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8956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8956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8956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89559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89559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3" name="Google Shape;23;p13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4" name="Google Shape;24;p13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5" name="Google Shape;25;p13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13.png"/><Relationship Id="rId6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github.com/utakbhate0943-dot/auracheck" TargetMode="External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g386b4e20355_0_0" title="ChatGPT Image Feb 25, 2026, 04_01_20 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10875"/>
            <a:ext cx="2281725" cy="22817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g386b4e20355_0_0"/>
          <p:cNvSpPr txBox="1"/>
          <p:nvPr/>
        </p:nvSpPr>
        <p:spPr>
          <a:xfrm>
            <a:off x="559325" y="2212550"/>
            <a:ext cx="7073700" cy="39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900">
                <a:solidFill>
                  <a:srgbClr val="9B76B2"/>
                </a:solidFill>
                <a:latin typeface="Lobster"/>
                <a:ea typeface="Lobster"/>
                <a:cs typeface="Lobster"/>
                <a:sym typeface="Lobster"/>
              </a:rPr>
              <a:t>A</a:t>
            </a:r>
            <a:r>
              <a:rPr lang="en-US" sz="10900">
                <a:solidFill>
                  <a:srgbClr val="9B76B2"/>
                </a:solidFill>
                <a:latin typeface="Oswald"/>
                <a:ea typeface="Oswald"/>
                <a:cs typeface="Oswald"/>
                <a:sym typeface="Oswald"/>
              </a:rPr>
              <a:t>uraCheck</a:t>
            </a:r>
            <a:endParaRPr sz="10900">
              <a:solidFill>
                <a:srgbClr val="9B76B2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9" name="Google Shape;149;g386b4e20355_0_0"/>
          <p:cNvSpPr txBox="1"/>
          <p:nvPr/>
        </p:nvSpPr>
        <p:spPr>
          <a:xfrm>
            <a:off x="1514775" y="3830750"/>
            <a:ext cx="56250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F3F3F"/>
                </a:solidFill>
                <a:latin typeface="Comfortaa"/>
                <a:ea typeface="Comfortaa"/>
                <a:cs typeface="Comfortaa"/>
                <a:sym typeface="Comfortaa"/>
              </a:rPr>
              <a:t>AI wellbeing tracker</a:t>
            </a:r>
            <a:endParaRPr b="1" sz="1800">
              <a:solidFill>
                <a:srgbClr val="3F3F3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86ca36e46c_0_0"/>
          <p:cNvSpPr txBox="1"/>
          <p:nvPr>
            <p:ph idx="1" type="body"/>
          </p:nvPr>
        </p:nvSpPr>
        <p:spPr>
          <a:xfrm>
            <a:off x="676608" y="1930508"/>
            <a:ext cx="4185600" cy="576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>
                <a:latin typeface="Comfortaa"/>
                <a:ea typeface="Comfortaa"/>
                <a:cs typeface="Comfortaa"/>
                <a:sym typeface="Comfortaa"/>
              </a:rPr>
              <a:t>Background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56" name="Google Shape;156;g386ca36e46c_0_0"/>
          <p:cNvSpPr txBox="1"/>
          <p:nvPr>
            <p:ph idx="2" type="body"/>
          </p:nvPr>
        </p:nvSpPr>
        <p:spPr>
          <a:xfrm>
            <a:off x="676608" y="2506770"/>
            <a:ext cx="4185600" cy="3304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A</a:t>
            </a:r>
            <a:r>
              <a:rPr b="1" lang="en-US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ccording to the 2024–2025 Healthy Minds Study (N = 84,735 students across 135 institutions):</a:t>
            </a:r>
            <a:endParaRPr b="1" sz="16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fortaa"/>
              <a:buChar char="-"/>
            </a:pPr>
            <a:r>
              <a:rPr b="1" lang="en-US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37% of students screen positive for depression</a:t>
            </a:r>
            <a:endParaRPr b="1" sz="16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fortaa"/>
              <a:buChar char="-"/>
            </a:pPr>
            <a:r>
              <a:rPr b="1" lang="en-US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33% screen positive for anxiety</a:t>
            </a:r>
            <a:endParaRPr b="1" sz="16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fortaa"/>
              <a:buChar char="-"/>
            </a:pPr>
            <a:r>
              <a:rPr b="1" lang="en-US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45% meet criteria for either depression or anxiety</a:t>
            </a:r>
            <a:endParaRPr b="1" sz="16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fortaa"/>
              <a:buChar char="-"/>
            </a:pPr>
            <a:r>
              <a:rPr b="1" lang="en-US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16% report that mental health difficulties hurt their academic performance for 6+ days in the past month </a:t>
            </a:r>
            <a:endParaRPr b="1" sz="16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These findings indicate a high prevalence of psychological distress and functional impairment among college students.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57" name="Google Shape;157;g386ca36e46c_0_0"/>
          <p:cNvSpPr txBox="1"/>
          <p:nvPr>
            <p:ph idx="3" type="body"/>
          </p:nvPr>
        </p:nvSpPr>
        <p:spPr>
          <a:xfrm>
            <a:off x="5089246" y="1930508"/>
            <a:ext cx="4185600" cy="576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>
                <a:latin typeface="Comfortaa"/>
                <a:ea typeface="Comfortaa"/>
                <a:cs typeface="Comfortaa"/>
                <a:sym typeface="Comfortaa"/>
              </a:rPr>
              <a:t>Problem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58" name="Google Shape;158;g386ca36e46c_0_0"/>
          <p:cNvSpPr txBox="1"/>
          <p:nvPr>
            <p:ph idx="4" type="body"/>
          </p:nvPr>
        </p:nvSpPr>
        <p:spPr>
          <a:xfrm>
            <a:off x="5089247" y="2506770"/>
            <a:ext cx="4185600" cy="3304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Despite high level of distress; however, these following problems accompanied:</a:t>
            </a:r>
            <a:endParaRPr b="1" sz="16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fortaa"/>
              <a:buChar char="-"/>
            </a:pPr>
            <a:r>
              <a:rPr b="1" lang="en-US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83% know where to access resources; however, only 21% are currently in therapy; 38% received therapy in the past year.</a:t>
            </a:r>
            <a:endParaRPr b="1" sz="16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fortaa"/>
              <a:buChar char="-"/>
            </a:pPr>
            <a:r>
              <a:rPr b="1" lang="en-US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The majority citing “not enough time” , financial reasons as a barrier, while others prefer to deal with the problem alone.</a:t>
            </a:r>
            <a:endParaRPr b="1" sz="16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The gap is not awareness but early detection and engagement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59" name="Google Shape;159;g386ca36e46c_0_0" title="ChatGPT Image Feb 25, 2026, 04_01_20 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69600" y="5589675"/>
            <a:ext cx="1094600" cy="1094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g386ca36e46c_0_0"/>
          <p:cNvSpPr txBox="1"/>
          <p:nvPr>
            <p:ph type="title"/>
          </p:nvPr>
        </p:nvSpPr>
        <p:spPr>
          <a:xfrm>
            <a:off x="677334" y="609600"/>
            <a:ext cx="8596800" cy="132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omfortaa"/>
                <a:ea typeface="Comfortaa"/>
                <a:cs typeface="Comfortaa"/>
                <a:sym typeface="Comfortaa"/>
              </a:rPr>
              <a:t>Why AuraCheck?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86ca36e46c_0_25"/>
          <p:cNvSpPr txBox="1"/>
          <p:nvPr>
            <p:ph type="title"/>
          </p:nvPr>
        </p:nvSpPr>
        <p:spPr>
          <a:xfrm>
            <a:off x="677334" y="609600"/>
            <a:ext cx="8596800" cy="132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omfortaa"/>
                <a:ea typeface="Comfortaa"/>
                <a:cs typeface="Comfortaa"/>
                <a:sym typeface="Comfortaa"/>
              </a:rPr>
              <a:t>Project</a:t>
            </a:r>
            <a:r>
              <a:rPr b="1" lang="en-US">
                <a:latin typeface="Comfortaa"/>
                <a:ea typeface="Comfortaa"/>
                <a:cs typeface="Comfortaa"/>
                <a:sym typeface="Comfortaa"/>
              </a:rPr>
              <a:t> Objectives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67" name="Google Shape;167;g386ca36e46c_0_25"/>
          <p:cNvSpPr txBox="1"/>
          <p:nvPr>
            <p:ph idx="1" type="body"/>
          </p:nvPr>
        </p:nvSpPr>
        <p:spPr>
          <a:xfrm>
            <a:off x="677334" y="2160589"/>
            <a:ext cx="8596800" cy="3880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The purpose of our project is not to replace clinical diagnosis or counseling. We aim to:</a:t>
            </a:r>
            <a:endParaRPr b="1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fortaa"/>
              <a:buChar char="-"/>
            </a:pPr>
            <a:r>
              <a:rPr b="1" lang="en-US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Provide a private, self-guided early burnout risk monitor</a:t>
            </a:r>
            <a:endParaRPr b="1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fortaa"/>
              <a:buChar char="-"/>
            </a:pPr>
            <a:r>
              <a:rPr b="1" lang="en-US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Enable quick daily check-ins (1–2 minutes)</a:t>
            </a:r>
            <a:endParaRPr b="1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fortaa"/>
              <a:buChar char="-"/>
            </a:pPr>
            <a:r>
              <a:rPr b="1" lang="en-US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Detect cumulative psychological strain before it escalates into academic impairment</a:t>
            </a:r>
            <a:endParaRPr b="1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fortaa"/>
              <a:buChar char="-"/>
            </a:pPr>
            <a:r>
              <a:rPr b="1" lang="en-US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Serve as a low-friction bridge between self-awareness and formal support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68" name="Google Shape;168;g386ca36e46c_0_25" title="ChatGPT Image Feb 25, 2026, 04_01_20 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69600" y="5589675"/>
            <a:ext cx="1094600" cy="109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86b4e20355_0_8"/>
          <p:cNvSpPr txBox="1"/>
          <p:nvPr>
            <p:ph idx="1" type="body"/>
          </p:nvPr>
        </p:nvSpPr>
        <p:spPr>
          <a:xfrm>
            <a:off x="782625" y="1423475"/>
            <a:ext cx="10616700" cy="52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51458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5091"/>
              <a:buNone/>
            </a:pPr>
            <a:r>
              <a:rPr b="1" lang="en-US" sz="1917">
                <a:solidFill>
                  <a:srgbClr val="6B6FD5"/>
                </a:solidFill>
                <a:latin typeface="Comfortaa"/>
                <a:ea typeface="Comfortaa"/>
                <a:cs typeface="Comfortaa"/>
                <a:sym typeface="Comfortaa"/>
              </a:rPr>
              <a:t>Name: </a:t>
            </a:r>
            <a:r>
              <a:rPr b="1" lang="en-US" sz="1917">
                <a:latin typeface="Comfortaa"/>
                <a:ea typeface="Comfortaa"/>
                <a:cs typeface="Comfortaa"/>
                <a:sym typeface="Comfortaa"/>
              </a:rPr>
              <a:t>Students Mental Health Assessments</a:t>
            </a:r>
            <a:endParaRPr b="1" sz="1917">
              <a:latin typeface="Comfortaa"/>
              <a:ea typeface="Comfortaa"/>
              <a:cs typeface="Comfortaa"/>
              <a:sym typeface="Comfortaa"/>
            </a:endParaRPr>
          </a:p>
          <a:p>
            <a:pPr indent="-251458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5091"/>
              <a:buNone/>
            </a:pPr>
            <a:r>
              <a:rPr b="1" lang="en-US" sz="1917">
                <a:solidFill>
                  <a:srgbClr val="6B6FD5"/>
                </a:solidFill>
                <a:latin typeface="Comfortaa"/>
                <a:ea typeface="Comfortaa"/>
                <a:cs typeface="Comfortaa"/>
                <a:sym typeface="Comfortaa"/>
              </a:rPr>
              <a:t>Source: </a:t>
            </a:r>
            <a:r>
              <a:rPr b="1" lang="en-US" sz="1917">
                <a:latin typeface="Comfortaa"/>
                <a:ea typeface="Comfortaa"/>
                <a:cs typeface="Comfortaa"/>
                <a:sym typeface="Comfortaa"/>
              </a:rPr>
              <a:t>Kaggle (Saint)</a:t>
            </a:r>
            <a:endParaRPr b="1" sz="1917">
              <a:latin typeface="Comfortaa"/>
              <a:ea typeface="Comfortaa"/>
              <a:cs typeface="Comfortaa"/>
              <a:sym typeface="Comfortaa"/>
            </a:endParaRPr>
          </a:p>
          <a:p>
            <a:pPr indent="-24765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5091"/>
              <a:buNone/>
            </a:pPr>
            <a:r>
              <a:rPr b="1" lang="en-US" sz="1917">
                <a:solidFill>
                  <a:srgbClr val="6B6FD5"/>
                </a:solidFill>
                <a:latin typeface="Comfortaa"/>
                <a:ea typeface="Comfortaa"/>
                <a:cs typeface="Comfortaa"/>
                <a:sym typeface="Comfortaa"/>
              </a:rPr>
              <a:t>Data Adjustment: </a:t>
            </a:r>
            <a:endParaRPr b="1" sz="1917">
              <a:solidFill>
                <a:srgbClr val="6B6FD5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952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5091"/>
              <a:buNone/>
            </a:pPr>
            <a:r>
              <a:rPr b="1" lang="en-US" sz="1917">
                <a:latin typeface="Comfortaa"/>
                <a:ea typeface="Comfortaa"/>
                <a:cs typeface="Comfortaa"/>
                <a:sym typeface="Comfortaa"/>
              </a:rPr>
              <a:t>Additional synthetic samples generated using ChatGPT to expand sample size and improve modeling robustness.</a:t>
            </a:r>
            <a:endParaRPr b="1" sz="1917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952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5091"/>
              <a:buNone/>
            </a:pPr>
            <a:r>
              <a:rPr b="1" lang="en-US" sz="1917">
                <a:solidFill>
                  <a:srgbClr val="6B6FD5"/>
                </a:solidFill>
                <a:latin typeface="Comfortaa"/>
                <a:ea typeface="Comfortaa"/>
                <a:cs typeface="Comfortaa"/>
                <a:sym typeface="Comfortaa"/>
              </a:rPr>
              <a:t>Overview: </a:t>
            </a:r>
            <a:endParaRPr b="1" sz="1917">
              <a:solidFill>
                <a:srgbClr val="6B6FD5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952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5091"/>
              <a:buNone/>
            </a:pPr>
            <a:r>
              <a:rPr b="1" lang="en-US" sz="1917">
                <a:latin typeface="Comfortaa"/>
                <a:ea typeface="Comfortaa"/>
                <a:cs typeface="Comfortaa"/>
                <a:sym typeface="Comfortaa"/>
              </a:rPr>
              <a:t>The dataset, compiled from multiple </a:t>
            </a:r>
            <a:r>
              <a:rPr b="1" lang="en-US" sz="1917">
                <a:latin typeface="Comfortaa"/>
                <a:ea typeface="Comfortaa"/>
                <a:cs typeface="Comfortaa"/>
                <a:sym typeface="Comfortaa"/>
              </a:rPr>
              <a:t>anonymous</a:t>
            </a:r>
            <a:r>
              <a:rPr b="1" lang="en-US" sz="1917">
                <a:latin typeface="Comfortaa"/>
                <a:ea typeface="Comfortaa"/>
                <a:cs typeface="Comfortaa"/>
                <a:sym typeface="Comfortaa"/>
              </a:rPr>
              <a:t> source, contains anonymized evaluations of college students’ mental health and related behavioral, academic, and lifestyle factors. This dataset seeks to provide valuable insights into the mental health of students.</a:t>
            </a:r>
            <a:endParaRPr b="1" sz="1917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952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5091"/>
              <a:buNone/>
            </a:pPr>
            <a:r>
              <a:rPr b="1" lang="en-US" sz="1917">
                <a:solidFill>
                  <a:srgbClr val="6B6FD5"/>
                </a:solidFill>
                <a:latin typeface="Comfortaa"/>
                <a:ea typeface="Comfortaa"/>
                <a:cs typeface="Comfortaa"/>
                <a:sym typeface="Comfortaa"/>
              </a:rPr>
              <a:t>Variables:</a:t>
            </a:r>
            <a:endParaRPr b="1" sz="1917">
              <a:solidFill>
                <a:srgbClr val="6B6FD5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12674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1227"/>
              <a:buFont typeface="Comfortaa"/>
              <a:buChar char="●"/>
            </a:pPr>
            <a:r>
              <a:rPr b="1" lang="en-US" sz="1917">
                <a:latin typeface="Comfortaa"/>
                <a:ea typeface="Comfortaa"/>
                <a:cs typeface="Comfortaa"/>
                <a:sym typeface="Comfortaa"/>
              </a:rPr>
              <a:t>Academic Load: Semester_Credit_Load – Number of academic credits (15–30 range)</a:t>
            </a:r>
            <a:endParaRPr b="1" sz="1917">
              <a:latin typeface="Comfortaa"/>
              <a:ea typeface="Comfortaa"/>
              <a:cs typeface="Comfortaa"/>
              <a:sym typeface="Comfortaa"/>
            </a:endParaRPr>
          </a:p>
          <a:p>
            <a:pPr indent="-312674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1227"/>
              <a:buFont typeface="Comfortaa"/>
              <a:buChar char="●"/>
            </a:pPr>
            <a:r>
              <a:rPr b="1" lang="en-US" sz="1917">
                <a:latin typeface="Comfortaa"/>
                <a:ea typeface="Comfortaa"/>
                <a:cs typeface="Comfortaa"/>
                <a:sym typeface="Comfortaa"/>
              </a:rPr>
              <a:t>Social &amp; Environmental Factors:</a:t>
            </a:r>
            <a:endParaRPr b="1" sz="1917">
              <a:latin typeface="Comfortaa"/>
              <a:ea typeface="Comfortaa"/>
              <a:cs typeface="Comfortaa"/>
              <a:sym typeface="Comfortaa"/>
            </a:endParaRPr>
          </a:p>
          <a:p>
            <a:pPr indent="-312674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0684"/>
              <a:buFont typeface="Comfortaa"/>
              <a:buChar char="○"/>
            </a:pPr>
            <a:r>
              <a:rPr b="1" lang="en-US" sz="1717">
                <a:latin typeface="Comfortaa"/>
                <a:ea typeface="Comfortaa"/>
                <a:cs typeface="Comfortaa"/>
                <a:sym typeface="Comfortaa"/>
              </a:rPr>
              <a:t>Social_Support – Perceived social support</a:t>
            </a:r>
            <a:endParaRPr b="1" sz="1717">
              <a:latin typeface="Comfortaa"/>
              <a:ea typeface="Comfortaa"/>
              <a:cs typeface="Comfortaa"/>
              <a:sym typeface="Comfortaa"/>
            </a:endParaRPr>
          </a:p>
          <a:p>
            <a:pPr indent="-312674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0684"/>
              <a:buFont typeface="Comfortaa"/>
              <a:buChar char="○"/>
            </a:pPr>
            <a:r>
              <a:rPr b="1" lang="en-US" sz="1717">
                <a:latin typeface="Comfortaa"/>
                <a:ea typeface="Comfortaa"/>
                <a:cs typeface="Comfortaa"/>
                <a:sym typeface="Comfortaa"/>
              </a:rPr>
              <a:t>Substance_Use – Frequency of alcohol, tobacco, or drug use</a:t>
            </a:r>
            <a:endParaRPr b="1" sz="1717">
              <a:latin typeface="Comfortaa"/>
              <a:ea typeface="Comfortaa"/>
              <a:cs typeface="Comfortaa"/>
              <a:sym typeface="Comfortaa"/>
            </a:endParaRPr>
          </a:p>
          <a:p>
            <a:pPr indent="-312674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0684"/>
              <a:buFont typeface="Comfortaa"/>
              <a:buChar char="○"/>
            </a:pPr>
            <a:r>
              <a:rPr b="1" lang="en-US" sz="1717">
                <a:latin typeface="Comfortaa"/>
                <a:ea typeface="Comfortaa"/>
                <a:cs typeface="Comfortaa"/>
                <a:sym typeface="Comfortaa"/>
              </a:rPr>
              <a:t>Family_History – Family history of mental health conditions</a:t>
            </a:r>
            <a:endParaRPr b="1" sz="1717">
              <a:latin typeface="Comfortaa"/>
              <a:ea typeface="Comfortaa"/>
              <a:cs typeface="Comfortaa"/>
              <a:sym typeface="Comfortaa"/>
            </a:endParaRPr>
          </a:p>
          <a:p>
            <a:pPr indent="-312674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0684"/>
              <a:buFont typeface="Comfortaa"/>
              <a:buChar char="○"/>
            </a:pPr>
            <a:r>
              <a:rPr b="1" lang="en-US" sz="1717">
                <a:latin typeface="Comfortaa"/>
                <a:ea typeface="Comfortaa"/>
                <a:cs typeface="Comfortaa"/>
                <a:sym typeface="Comfortaa"/>
              </a:rPr>
              <a:t>Chronic_Illness – Presence of chronic illness</a:t>
            </a:r>
            <a:endParaRPr b="1" sz="1717">
              <a:latin typeface="Comfortaa"/>
              <a:ea typeface="Comfortaa"/>
              <a:cs typeface="Comfortaa"/>
              <a:sym typeface="Comfortaa"/>
            </a:endParaRPr>
          </a:p>
          <a:p>
            <a:pPr indent="-312674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0684"/>
              <a:buFont typeface="Comfortaa"/>
              <a:buChar char="○"/>
            </a:pPr>
            <a:r>
              <a:rPr b="1" lang="en-US" sz="1717">
                <a:latin typeface="Comfortaa"/>
                <a:ea typeface="Comfortaa"/>
                <a:cs typeface="Comfortaa"/>
                <a:sym typeface="Comfortaa"/>
              </a:rPr>
              <a:t>Financial_Stress – Level of financial stress (0–5 scale)</a:t>
            </a:r>
            <a:endParaRPr b="1" sz="1717">
              <a:latin typeface="Comfortaa"/>
              <a:ea typeface="Comfortaa"/>
              <a:cs typeface="Comfortaa"/>
              <a:sym typeface="Comfortaa"/>
            </a:endParaRPr>
          </a:p>
          <a:p>
            <a:pPr indent="-312674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1227"/>
              <a:buFont typeface="Comfortaa"/>
              <a:buChar char="●"/>
            </a:pPr>
            <a:r>
              <a:rPr b="1" lang="en-US" sz="1917">
                <a:latin typeface="Comfortaa"/>
                <a:ea typeface="Comfortaa"/>
                <a:cs typeface="Comfortaa"/>
                <a:sym typeface="Comfortaa"/>
              </a:rPr>
              <a:t>Lifestyle Factors:</a:t>
            </a:r>
            <a:endParaRPr b="1" sz="1917">
              <a:latin typeface="Comfortaa"/>
              <a:ea typeface="Comfortaa"/>
              <a:cs typeface="Comfortaa"/>
              <a:sym typeface="Comfortaa"/>
            </a:endParaRPr>
          </a:p>
          <a:p>
            <a:pPr indent="-312674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0684"/>
              <a:buFont typeface="Comfortaa"/>
              <a:buChar char="○"/>
            </a:pPr>
            <a:r>
              <a:rPr b="1" lang="en-US" sz="1717">
                <a:latin typeface="Comfortaa"/>
                <a:ea typeface="Comfortaa"/>
                <a:cs typeface="Comfortaa"/>
                <a:sym typeface="Comfortaa"/>
              </a:rPr>
              <a:t>Sleep_Quality – Self-rated sleep quality</a:t>
            </a:r>
            <a:endParaRPr b="1" sz="1717">
              <a:latin typeface="Comfortaa"/>
              <a:ea typeface="Comfortaa"/>
              <a:cs typeface="Comfortaa"/>
              <a:sym typeface="Comfortaa"/>
            </a:endParaRPr>
          </a:p>
          <a:p>
            <a:pPr indent="-312674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0684"/>
              <a:buFont typeface="Comfortaa"/>
              <a:buChar char="○"/>
            </a:pPr>
            <a:r>
              <a:rPr b="1" lang="en-US" sz="1717">
                <a:latin typeface="Comfortaa"/>
                <a:ea typeface="Comfortaa"/>
                <a:cs typeface="Comfortaa"/>
                <a:sym typeface="Comfortaa"/>
              </a:rPr>
              <a:t>Physical_Activity – Level of physical activity</a:t>
            </a:r>
            <a:endParaRPr b="1" sz="1717">
              <a:latin typeface="Comfortaa"/>
              <a:ea typeface="Comfortaa"/>
              <a:cs typeface="Comfortaa"/>
              <a:sym typeface="Comfortaa"/>
            </a:endParaRPr>
          </a:p>
          <a:p>
            <a:pPr indent="-312674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0684"/>
              <a:buFont typeface="Comfortaa"/>
              <a:buChar char="○"/>
            </a:pPr>
            <a:r>
              <a:rPr b="1" lang="en-US" sz="1717">
                <a:latin typeface="Comfortaa"/>
                <a:ea typeface="Comfortaa"/>
                <a:cs typeface="Comfortaa"/>
                <a:sym typeface="Comfortaa"/>
              </a:rPr>
              <a:t>Diet_Quality – Nutritional quality assessment</a:t>
            </a:r>
            <a:endParaRPr b="1" sz="1717">
              <a:latin typeface="Comfortaa"/>
              <a:ea typeface="Comfortaa"/>
              <a:cs typeface="Comfortaa"/>
              <a:sym typeface="Comfortaa"/>
            </a:endParaRPr>
          </a:p>
          <a:p>
            <a:pPr indent="-312674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1227"/>
              <a:buFont typeface="Comfortaa"/>
              <a:buChar char="●"/>
            </a:pPr>
            <a:r>
              <a:rPr b="1" lang="en-US" sz="1917">
                <a:latin typeface="Comfortaa"/>
                <a:ea typeface="Comfortaa"/>
                <a:cs typeface="Comfortaa"/>
                <a:sym typeface="Comfortaa"/>
              </a:rPr>
              <a:t>Psychological Indicators:</a:t>
            </a:r>
            <a:endParaRPr b="1" sz="1917">
              <a:latin typeface="Comfortaa"/>
              <a:ea typeface="Comfortaa"/>
              <a:cs typeface="Comfortaa"/>
              <a:sym typeface="Comfortaa"/>
            </a:endParaRPr>
          </a:p>
          <a:p>
            <a:pPr indent="-312674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0684"/>
              <a:buFont typeface="Comfortaa"/>
              <a:buChar char="○"/>
            </a:pPr>
            <a:r>
              <a:rPr b="1" lang="en-US" sz="1717">
                <a:latin typeface="Comfortaa"/>
                <a:ea typeface="Comfortaa"/>
                <a:cs typeface="Comfortaa"/>
                <a:sym typeface="Comfortaa"/>
              </a:rPr>
              <a:t>Stress_Level – Self-reported stress intensity</a:t>
            </a:r>
            <a:endParaRPr b="1" sz="1717">
              <a:latin typeface="Comfortaa"/>
              <a:ea typeface="Comfortaa"/>
              <a:cs typeface="Comfortaa"/>
              <a:sym typeface="Comfortaa"/>
            </a:endParaRPr>
          </a:p>
          <a:p>
            <a:pPr indent="-312674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0684"/>
              <a:buFont typeface="Comfortaa"/>
              <a:buChar char="○"/>
            </a:pPr>
            <a:r>
              <a:rPr b="1" lang="en-US" sz="1717">
                <a:latin typeface="Comfortaa"/>
                <a:ea typeface="Comfortaa"/>
                <a:cs typeface="Comfortaa"/>
                <a:sym typeface="Comfortaa"/>
              </a:rPr>
              <a:t>Depression_Score – Quantified depression severity</a:t>
            </a:r>
            <a:endParaRPr b="1" sz="1717">
              <a:latin typeface="Comfortaa"/>
              <a:ea typeface="Comfortaa"/>
              <a:cs typeface="Comfortaa"/>
              <a:sym typeface="Comfortaa"/>
            </a:endParaRPr>
          </a:p>
          <a:p>
            <a:pPr indent="-312674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0684"/>
              <a:buFont typeface="Comfortaa"/>
              <a:buChar char="○"/>
            </a:pPr>
            <a:r>
              <a:rPr b="1" lang="en-US" sz="1717">
                <a:latin typeface="Comfortaa"/>
                <a:ea typeface="Comfortaa"/>
                <a:cs typeface="Comfortaa"/>
                <a:sym typeface="Comfortaa"/>
              </a:rPr>
              <a:t>Anxiety_Score – Quantified anxiety severity</a:t>
            </a:r>
            <a:endParaRPr b="1" sz="1717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  <a:p>
            <a:pPr indent="-251459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9999"/>
              <a:buNone/>
            </a:pPr>
            <a:r>
              <a:t/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74" name="Google Shape;174;g386b4e20355_0_8" title="ChatGPT Image Feb 25, 2026, 04_01_20 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69600" y="5589675"/>
            <a:ext cx="1094600" cy="1094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g386b4e20355_0_8"/>
          <p:cNvSpPr txBox="1"/>
          <p:nvPr>
            <p:ph type="title"/>
          </p:nvPr>
        </p:nvSpPr>
        <p:spPr>
          <a:xfrm>
            <a:off x="677334" y="609600"/>
            <a:ext cx="8596800" cy="132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omfortaa"/>
                <a:ea typeface="Comfortaa"/>
                <a:cs typeface="Comfortaa"/>
                <a:sym typeface="Comfortaa"/>
              </a:rPr>
              <a:t>Dataset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g3c46a8fbef7_0_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7701" y="2972176"/>
            <a:ext cx="2647650" cy="169177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g3c46a8fbef7_0_25"/>
          <p:cNvSpPr/>
          <p:nvPr/>
        </p:nvSpPr>
        <p:spPr>
          <a:xfrm>
            <a:off x="955100" y="2040588"/>
            <a:ext cx="3375900" cy="9864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chemeClr val="lt1"/>
          </a:solidFill>
          <a:ln cap="flat" cmpd="sng" w="38100">
            <a:solidFill>
              <a:srgbClr val="6B6F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So what can we do?</a:t>
            </a:r>
            <a:endParaRPr b="1" i="0" sz="1400" u="none" cap="none" strike="noStrik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82" name="Google Shape;182;g3c46a8fbef7_0_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79474" y="3214622"/>
            <a:ext cx="1065825" cy="1310553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g3c46a8fbef7_0_25"/>
          <p:cNvSpPr/>
          <p:nvPr/>
        </p:nvSpPr>
        <p:spPr>
          <a:xfrm>
            <a:off x="5310488" y="2198839"/>
            <a:ext cx="2203800" cy="853500"/>
          </a:xfrm>
          <a:prstGeom prst="homePlate">
            <a:avLst>
              <a:gd fmla="val 50000" name="adj"/>
            </a:avLst>
          </a:prstGeom>
          <a:solidFill>
            <a:schemeClr val="lt1"/>
          </a:solidFill>
          <a:ln cap="flat" cmpd="sng" w="38100">
            <a:solidFill>
              <a:srgbClr val="6B6F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Tell</a:t>
            </a:r>
            <a:endParaRPr b="1" i="0" sz="1400" u="none" cap="none" strike="noStrik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Aura</a:t>
            </a:r>
            <a:r>
              <a:rPr b="1" lang="en-US" sz="18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C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heck!</a:t>
            </a:r>
            <a:endParaRPr b="1" i="0" sz="1400" u="none" cap="none" strike="noStrik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84" name="Google Shape;184;g3c46a8fbef7_0_25"/>
          <p:cNvSpPr txBox="1"/>
          <p:nvPr/>
        </p:nvSpPr>
        <p:spPr>
          <a:xfrm>
            <a:off x="677325" y="5166600"/>
            <a:ext cx="6834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F3F3F"/>
                </a:solidFill>
                <a:latin typeface="Comfortaa"/>
                <a:ea typeface="Comfortaa"/>
                <a:cs typeface="Comfortaa"/>
                <a:sym typeface="Comfortaa"/>
              </a:rPr>
              <a:t>A daily AI-powered </a:t>
            </a:r>
            <a:r>
              <a:rPr b="1" lang="en-US" sz="1800">
                <a:solidFill>
                  <a:srgbClr val="3F3F3F"/>
                </a:solidFill>
                <a:latin typeface="Comfortaa"/>
                <a:ea typeface="Comfortaa"/>
                <a:cs typeface="Comfortaa"/>
                <a:sym typeface="Comfortaa"/>
              </a:rPr>
              <a:t>mental wellbeing monitoring tool for college students that predicts burnout </a:t>
            </a:r>
            <a:r>
              <a:rPr b="1" lang="en-US" sz="1800">
                <a:solidFill>
                  <a:srgbClr val="3F3F3F"/>
                </a:solidFill>
                <a:latin typeface="Comfortaa"/>
                <a:ea typeface="Comfortaa"/>
                <a:cs typeface="Comfortaa"/>
                <a:sym typeface="Comfortaa"/>
              </a:rPr>
              <a:t>and </a:t>
            </a:r>
            <a:r>
              <a:rPr b="1" lang="en-US" sz="1800">
                <a:solidFill>
                  <a:srgbClr val="3F3F3F"/>
                </a:solidFill>
                <a:latin typeface="Comfortaa"/>
                <a:ea typeface="Comfortaa"/>
                <a:cs typeface="Comfortaa"/>
                <a:sym typeface="Comfortaa"/>
              </a:rPr>
              <a:t>stress risk using daily check-ins</a:t>
            </a:r>
            <a:endParaRPr b="1" i="0" sz="1400" u="none" cap="none" strike="noStrike">
              <a:solidFill>
                <a:srgbClr val="3F3F3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85" name="Google Shape;185;g3c46a8fbef7_0_25" title="ChatGPT Image Feb 25, 2026, 04_01_20 PM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69600" y="5589675"/>
            <a:ext cx="1094600" cy="1094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g3c46a8fbef7_0_25"/>
          <p:cNvSpPr txBox="1"/>
          <p:nvPr>
            <p:ph idx="4294967295" type="title"/>
          </p:nvPr>
        </p:nvSpPr>
        <p:spPr>
          <a:xfrm>
            <a:off x="677334" y="609600"/>
            <a:ext cx="8596800" cy="132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omfortaa"/>
                <a:ea typeface="Comfortaa"/>
                <a:cs typeface="Comfortaa"/>
                <a:sym typeface="Comfortaa"/>
              </a:rPr>
              <a:t>Proposed Product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87" name="Google Shape;187;g3c46a8fbef7_0_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00450" y="708224"/>
            <a:ext cx="3575575" cy="5277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c46a8fbef7_0_9"/>
          <p:cNvSpPr/>
          <p:nvPr/>
        </p:nvSpPr>
        <p:spPr>
          <a:xfrm flipH="1">
            <a:off x="6460602" y="1684075"/>
            <a:ext cx="46050" cy="4766300"/>
          </a:xfrm>
          <a:prstGeom prst="flowChartProcess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g3c46a8fbef7_0_9" title="ChatGPT Image Feb 25, 2026, 04_01_20 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69600" y="5589675"/>
            <a:ext cx="1094600" cy="1094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g3c46a8fbef7_0_9"/>
          <p:cNvSpPr txBox="1"/>
          <p:nvPr>
            <p:ph idx="4294967295" type="title"/>
          </p:nvPr>
        </p:nvSpPr>
        <p:spPr>
          <a:xfrm>
            <a:off x="677334" y="609600"/>
            <a:ext cx="8596800" cy="132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omfortaa"/>
                <a:ea typeface="Comfortaa"/>
                <a:cs typeface="Comfortaa"/>
                <a:sym typeface="Comfortaa"/>
              </a:rPr>
              <a:t>Vision &amp; Proposed Techstack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95" name="Google Shape;195;g3c46a8fbef7_0_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06650" y="1755875"/>
            <a:ext cx="5474024" cy="4357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g3c46a8fbef7_0_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7325" y="1755875"/>
            <a:ext cx="5237659" cy="462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c4cb5dd65e_1_21"/>
          <p:cNvSpPr txBox="1"/>
          <p:nvPr>
            <p:ph idx="1" type="body"/>
          </p:nvPr>
        </p:nvSpPr>
        <p:spPr>
          <a:xfrm>
            <a:off x="677325" y="1618400"/>
            <a:ext cx="8596800" cy="123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Font typeface="Comfortaa"/>
              <a:buChar char="►"/>
            </a:pPr>
            <a:r>
              <a:rPr b="1" lang="en-US">
                <a:latin typeface="Comfortaa"/>
                <a:ea typeface="Comfortaa"/>
                <a:cs typeface="Comfortaa"/>
                <a:sym typeface="Comfortaa"/>
              </a:rPr>
              <a:t>Since we imputed 3,000 rows, we made sure our descriptive statistics didn’t change (they didn’t).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Font typeface="Comfortaa"/>
              <a:buChar char="►"/>
            </a:pPr>
            <a:r>
              <a:rPr b="1" lang="en-US">
                <a:latin typeface="Comfortaa"/>
                <a:ea typeface="Comfortaa"/>
                <a:cs typeface="Comfortaa"/>
                <a:sym typeface="Comfortaa"/>
              </a:rPr>
              <a:t>We created either histograms or boxplots to see distributions of responses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03" name="Google Shape;203;g3c4cb5dd65e_1_21"/>
          <p:cNvSpPr txBox="1"/>
          <p:nvPr>
            <p:ph type="title"/>
          </p:nvPr>
        </p:nvSpPr>
        <p:spPr>
          <a:xfrm>
            <a:off x="677334" y="609600"/>
            <a:ext cx="8596800" cy="132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omfortaa"/>
                <a:ea typeface="Comfortaa"/>
                <a:cs typeface="Comfortaa"/>
                <a:sym typeface="Comfortaa"/>
              </a:rPr>
              <a:t>EDA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204" name="Google Shape;204;g3c4cb5dd65e_1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4066" y="3169275"/>
            <a:ext cx="3790659" cy="264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g3c4cb5dd65e_1_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4425" y="3169287"/>
            <a:ext cx="3854324" cy="264497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g3c4cb5dd65e_1_21"/>
          <p:cNvSpPr txBox="1"/>
          <p:nvPr/>
        </p:nvSpPr>
        <p:spPr>
          <a:xfrm>
            <a:off x="677325" y="3420225"/>
            <a:ext cx="31392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Comfortaa"/>
              <a:buChar char="►"/>
            </a:pPr>
            <a:r>
              <a:rPr b="1" lang="en-US" sz="1800">
                <a:solidFill>
                  <a:srgbClr val="3F3F3F"/>
                </a:solidFill>
                <a:latin typeface="Comfortaa"/>
                <a:ea typeface="Comfortaa"/>
                <a:cs typeface="Comfortaa"/>
                <a:sym typeface="Comfortaa"/>
              </a:rPr>
              <a:t>Have a few outliers in terms of age and CGPA (higher age and lower CGPA). Should probably keep </a:t>
            </a:r>
            <a:r>
              <a:rPr b="1" lang="en-US" sz="1800">
                <a:solidFill>
                  <a:srgbClr val="3F3F3F"/>
                </a:solidFill>
                <a:latin typeface="Comfortaa"/>
                <a:ea typeface="Comfortaa"/>
                <a:cs typeface="Comfortaa"/>
                <a:sym typeface="Comfortaa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outliers</a:t>
            </a:r>
            <a:r>
              <a:rPr b="1" lang="en-US" sz="1800">
                <a:solidFill>
                  <a:srgbClr val="3F3F3F"/>
                </a:solidFill>
                <a:latin typeface="Comfortaa"/>
                <a:ea typeface="Comfortaa"/>
                <a:cs typeface="Comfortaa"/>
                <a:sym typeface="Comfortaa"/>
              </a:rPr>
              <a:t>.</a:t>
            </a:r>
            <a:endParaRPr b="1" sz="1800">
              <a:solidFill>
                <a:srgbClr val="3F3F3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207" name="Google Shape;207;g3c4cb5dd65e_1_21" title="ChatGPT Image Feb 25, 2026, 04_01_20 PM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69600" y="5589675"/>
            <a:ext cx="1094600" cy="109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c4cb5dd65e_1_32"/>
          <p:cNvSpPr txBox="1"/>
          <p:nvPr>
            <p:ph idx="1" type="body"/>
          </p:nvPr>
        </p:nvSpPr>
        <p:spPr>
          <a:xfrm>
            <a:off x="677325" y="680553"/>
            <a:ext cx="4184100" cy="223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20040" lvl="0" marL="457200" rtl="0" algn="l">
              <a:spcBef>
                <a:spcPts val="1000"/>
              </a:spcBef>
              <a:spcAft>
                <a:spcPts val="0"/>
              </a:spcAft>
              <a:buSzPts val="1440"/>
              <a:buFont typeface="Comfortaa"/>
              <a:buChar char="►"/>
            </a:pPr>
            <a:r>
              <a:rPr b="1" lang="en-US">
                <a:latin typeface="Comfortaa"/>
                <a:ea typeface="Comfortaa"/>
                <a:cs typeface="Comfortaa"/>
                <a:sym typeface="Comfortaa"/>
              </a:rPr>
              <a:t>Created Pearson’s correlation matrix and have very low linear correlation among variables (highest is 0.02 for positive correlation and -0.03 for negative correlation).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c4cb5dd65e_1_32"/>
          <p:cNvSpPr txBox="1"/>
          <p:nvPr>
            <p:ph idx="2" type="body"/>
          </p:nvPr>
        </p:nvSpPr>
        <p:spPr>
          <a:xfrm>
            <a:off x="5133950" y="582845"/>
            <a:ext cx="4184100" cy="223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457200" rtl="0" algn="l">
              <a:spcBef>
                <a:spcPts val="1000"/>
              </a:spcBef>
              <a:spcAft>
                <a:spcPts val="0"/>
              </a:spcAft>
              <a:buSzPts val="1440"/>
              <a:buFont typeface="Comfortaa"/>
              <a:buChar char="►"/>
            </a:pPr>
            <a:r>
              <a:rPr b="1" lang="en-US">
                <a:latin typeface="Comfortaa"/>
                <a:ea typeface="Comfortaa"/>
                <a:cs typeface="Comfortaa"/>
                <a:sym typeface="Comfortaa"/>
              </a:rPr>
              <a:t>For association among categorical variables, Cramer's V shows course having the highest association (still very weak) in regards to depression, anxiety and stress level.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215" name="Google Shape;215;g3c4cb5dd65e_1_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2250" y="2817246"/>
            <a:ext cx="4229176" cy="37752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g3c4cb5dd65e_1_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9492" y="2817250"/>
            <a:ext cx="5033631" cy="377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g3c4cb5dd65e_1_32" title="ChatGPT Image Feb 25, 2026, 04_01_20 PM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69600" y="5589675"/>
            <a:ext cx="1094600" cy="109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g3c4cb5dd65e_1_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938" y="2552709"/>
            <a:ext cx="3941112" cy="269534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g3c4cb5dd65e_1_41"/>
          <p:cNvSpPr txBox="1"/>
          <p:nvPr/>
        </p:nvSpPr>
        <p:spPr>
          <a:xfrm>
            <a:off x="302375" y="347750"/>
            <a:ext cx="706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F3F3F"/>
                </a:solidFill>
                <a:latin typeface="Comfortaa"/>
                <a:ea typeface="Comfortaa"/>
                <a:cs typeface="Comfortaa"/>
                <a:sym typeface="Comfortaa"/>
              </a:rPr>
              <a:t>From heatmaps of stress, anxiety and depression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25" name="Google Shape;225;g3c4cb5dd65e_1_41"/>
          <p:cNvSpPr txBox="1"/>
          <p:nvPr/>
        </p:nvSpPr>
        <p:spPr>
          <a:xfrm>
            <a:off x="168899" y="1307400"/>
            <a:ext cx="2899800" cy="11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83750" lIns="83750" spcFirstLastPara="1" rIns="83750" wrap="square" tIns="83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48">
                <a:solidFill>
                  <a:srgbClr val="3F3F3F"/>
                </a:solidFill>
                <a:latin typeface="Comfortaa"/>
                <a:ea typeface="Comfortaa"/>
                <a:cs typeface="Comfortaa"/>
                <a:sym typeface="Comfortaa"/>
              </a:rPr>
              <a:t>Majority of high depression scores are computer science students</a:t>
            </a:r>
            <a:endParaRPr sz="1282"/>
          </a:p>
        </p:txBody>
      </p:sp>
      <p:pic>
        <p:nvPicPr>
          <p:cNvPr id="226" name="Google Shape;226;g3c4cb5dd65e_1_41" title="ChatGPT Image Feb 25, 2026, 04_01_20 P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69600" y="5589675"/>
            <a:ext cx="1094600" cy="1094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g3c4cb5dd65e_1_41"/>
          <p:cNvSpPr txBox="1"/>
          <p:nvPr/>
        </p:nvSpPr>
        <p:spPr>
          <a:xfrm>
            <a:off x="4199195" y="2734575"/>
            <a:ext cx="28998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83750" lIns="83750" spcFirstLastPara="1" rIns="83750" wrap="square" tIns="83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48">
                <a:solidFill>
                  <a:srgbClr val="3F3F3F"/>
                </a:solidFill>
                <a:latin typeface="Comfortaa"/>
                <a:ea typeface="Comfortaa"/>
                <a:cs typeface="Comfortaa"/>
                <a:sym typeface="Comfortaa"/>
              </a:rPr>
              <a:t>Majority of high anxiety scores are law students</a:t>
            </a:r>
            <a:endParaRPr sz="1282"/>
          </a:p>
        </p:txBody>
      </p:sp>
      <p:pic>
        <p:nvPicPr>
          <p:cNvPr id="228" name="Google Shape;228;g3c4cb5dd65e_1_41" title="% course vs anxiety heatmap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99195" y="3411384"/>
            <a:ext cx="3941130" cy="269534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g3c4cb5dd65e_1_41"/>
          <p:cNvSpPr txBox="1"/>
          <p:nvPr/>
        </p:nvSpPr>
        <p:spPr>
          <a:xfrm>
            <a:off x="8140333" y="1434288"/>
            <a:ext cx="2899800" cy="9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750" lIns="83750" spcFirstLastPara="1" rIns="83750" wrap="square" tIns="83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48">
                <a:solidFill>
                  <a:srgbClr val="3F3F3F"/>
                </a:solidFill>
                <a:latin typeface="Comfortaa"/>
                <a:ea typeface="Comfortaa"/>
                <a:cs typeface="Comfortaa"/>
                <a:sym typeface="Comfortaa"/>
              </a:rPr>
              <a:t>Majority of high stress levels are by medical students</a:t>
            </a:r>
            <a:endParaRPr b="1" sz="1282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230" name="Google Shape;230;g3c4cb5dd65e_1_41" title="% course vs stress heatmap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29476" y="2403913"/>
            <a:ext cx="3793638" cy="2594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86b4e20355_0_33"/>
          <p:cNvSpPr txBox="1"/>
          <p:nvPr>
            <p:ph idx="2" type="body"/>
          </p:nvPr>
        </p:nvSpPr>
        <p:spPr>
          <a:xfrm>
            <a:off x="675745" y="2356245"/>
            <a:ext cx="4185600" cy="3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3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27630"/>
              <a:buNone/>
            </a:pPr>
            <a:r>
              <a:rPr b="1" lang="en-US" sz="3981">
                <a:solidFill>
                  <a:srgbClr val="3F3F3F"/>
                </a:solidFill>
                <a:latin typeface="Comfortaa"/>
                <a:ea typeface="Comfortaa"/>
                <a:cs typeface="Comfortaa"/>
                <a:sym typeface="Comfortaa"/>
              </a:rPr>
              <a:t>Create a new binary variable, Burnout, which indicates if a student is burnt out or not. </a:t>
            </a:r>
            <a:endParaRPr b="1" sz="3981">
              <a:solidFill>
                <a:srgbClr val="3F3F3F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27630"/>
              <a:buNone/>
            </a:pPr>
            <a:r>
              <a:t/>
            </a:r>
            <a:endParaRPr b="1" sz="3981">
              <a:solidFill>
                <a:srgbClr val="3F3F3F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27630"/>
              <a:buNone/>
            </a:pPr>
            <a:r>
              <a:rPr b="1" lang="en-US" sz="3981">
                <a:solidFill>
                  <a:srgbClr val="3F3F3F"/>
                </a:solidFill>
                <a:latin typeface="Comfortaa"/>
                <a:ea typeface="Comfortaa"/>
                <a:cs typeface="Comfortaa"/>
                <a:sym typeface="Comfortaa"/>
              </a:rPr>
              <a:t>Burnout (1 = Yes, 0=No)</a:t>
            </a:r>
            <a:endParaRPr b="1" sz="3981">
              <a:solidFill>
                <a:srgbClr val="3F3F3F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27630"/>
              <a:buNone/>
            </a:pPr>
            <a:r>
              <a:t/>
            </a:r>
            <a:endParaRPr b="1" sz="3981">
              <a:solidFill>
                <a:srgbClr val="3F3F3F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27630"/>
              <a:buNone/>
            </a:pPr>
            <a:r>
              <a:rPr b="1" lang="en-US" sz="3981">
                <a:solidFill>
                  <a:srgbClr val="3F3F3F"/>
                </a:solidFill>
                <a:latin typeface="Comfortaa"/>
                <a:ea typeface="Comfortaa"/>
                <a:cs typeface="Comfortaa"/>
                <a:sym typeface="Comfortaa"/>
              </a:rPr>
              <a:t>Burnout calculated by using the existing </a:t>
            </a:r>
            <a:r>
              <a:rPr b="1" lang="en-US" sz="3981">
                <a:latin typeface="Comfortaa"/>
                <a:ea typeface="Comfortaa"/>
                <a:cs typeface="Comfortaa"/>
                <a:sym typeface="Comfortaa"/>
              </a:rPr>
              <a:t>psychological</a:t>
            </a:r>
            <a:r>
              <a:rPr b="1" lang="en-US" sz="3981">
                <a:solidFill>
                  <a:srgbClr val="3F3F3F"/>
                </a:solidFill>
                <a:latin typeface="Comfortaa"/>
                <a:ea typeface="Comfortaa"/>
                <a:cs typeface="Comfortaa"/>
                <a:sym typeface="Comfortaa"/>
              </a:rPr>
              <a:t> indicator</a:t>
            </a:r>
            <a:r>
              <a:rPr b="1" lang="en-US" sz="3981">
                <a:latin typeface="Comfortaa"/>
                <a:ea typeface="Comfortaa"/>
                <a:cs typeface="Comfortaa"/>
                <a:sym typeface="Comfortaa"/>
              </a:rPr>
              <a:t>s</a:t>
            </a:r>
            <a:r>
              <a:rPr b="1" lang="en-US" sz="3981">
                <a:solidFill>
                  <a:srgbClr val="3F3F3F"/>
                </a:solidFill>
                <a:latin typeface="Comfortaa"/>
                <a:ea typeface="Comfortaa"/>
                <a:cs typeface="Comfortaa"/>
                <a:sym typeface="Comfortaa"/>
              </a:rPr>
              <a:t>, Stress_Level, Anxiety_Score, and Depression_Score.</a:t>
            </a:r>
            <a:endParaRPr b="1" sz="3981">
              <a:solidFill>
                <a:srgbClr val="3F3F3F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27630"/>
              <a:buNone/>
            </a:pPr>
            <a:r>
              <a:t/>
            </a:r>
            <a:endParaRPr b="1" sz="3981">
              <a:solidFill>
                <a:srgbClr val="3F3F3F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7630"/>
              <a:buFont typeface="Arial"/>
              <a:buNone/>
            </a:pPr>
            <a:r>
              <a:rPr b="1" lang="en-US" sz="3981">
                <a:solidFill>
                  <a:srgbClr val="3F3F3F"/>
                </a:solidFill>
                <a:latin typeface="Comfortaa"/>
                <a:ea typeface="Comfortaa"/>
                <a:cs typeface="Comfortaa"/>
                <a:sym typeface="Comfortaa"/>
              </a:rPr>
              <a:t>By taking z-scores of the mean of our three score </a:t>
            </a:r>
            <a:r>
              <a:rPr b="1" lang="en-US" sz="3981">
                <a:solidFill>
                  <a:srgbClr val="3F3F3F"/>
                </a:solidFill>
                <a:latin typeface="Comfortaa"/>
                <a:ea typeface="Comfortaa"/>
                <a:cs typeface="Comfortaa"/>
                <a:sym typeface="Comfortaa"/>
              </a:rPr>
              <a:t>variables</a:t>
            </a:r>
            <a:r>
              <a:rPr b="1" lang="en-US" sz="3981">
                <a:solidFill>
                  <a:srgbClr val="3F3F3F"/>
                </a:solidFill>
                <a:latin typeface="Comfortaa"/>
                <a:ea typeface="Comfortaa"/>
                <a:cs typeface="Comfortaa"/>
                <a:sym typeface="Comfortaa"/>
              </a:rPr>
              <a:t>, we get the standardized burnout scores, where values above </a:t>
            </a:r>
            <a:r>
              <a:rPr b="1" lang="en-US" sz="3981">
                <a:latin typeface="Comfortaa"/>
                <a:ea typeface="Comfortaa"/>
                <a:cs typeface="Comfortaa"/>
                <a:sym typeface="Comfortaa"/>
              </a:rPr>
              <a:t>the</a:t>
            </a:r>
            <a:r>
              <a:rPr b="1" lang="en-US" sz="3981">
                <a:solidFill>
                  <a:srgbClr val="3F3F3F"/>
                </a:solidFill>
                <a:latin typeface="Comfortaa"/>
                <a:ea typeface="Comfortaa"/>
                <a:cs typeface="Comfortaa"/>
                <a:sym typeface="Comfortaa"/>
              </a:rPr>
              <a:t> 80th percentile will be </a:t>
            </a:r>
            <a:r>
              <a:rPr b="1" lang="en-US" sz="3981">
                <a:solidFill>
                  <a:srgbClr val="3F3F3F"/>
                </a:solidFill>
                <a:latin typeface="Comfortaa"/>
                <a:ea typeface="Comfortaa"/>
                <a:cs typeface="Comfortaa"/>
                <a:sym typeface="Comfortaa"/>
              </a:rPr>
              <a:t>classified as either a 1 or 0. Our model will then be used to predict if a student is burnt out or not based on other predictors in our dataset. </a:t>
            </a:r>
            <a:endParaRPr b="1" sz="3981">
              <a:solidFill>
                <a:srgbClr val="3F3F3F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9999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6" name="Google Shape;236;g386b4e20355_0_33" title="ChatGPT Image Feb 25, 2026, 04_01_20 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69600" y="5589675"/>
            <a:ext cx="1094600" cy="1094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g386b4e20355_0_33"/>
          <p:cNvSpPr txBox="1"/>
          <p:nvPr>
            <p:ph idx="3" type="body"/>
          </p:nvPr>
        </p:nvSpPr>
        <p:spPr>
          <a:xfrm>
            <a:off x="675750" y="1664725"/>
            <a:ext cx="46782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b="1" lang="en-US">
                <a:latin typeface="Comfortaa"/>
                <a:ea typeface="Comfortaa"/>
                <a:cs typeface="Comfortaa"/>
                <a:sym typeface="Comfortaa"/>
              </a:rPr>
              <a:t>Logistic Regression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38" name="Google Shape;238;g386b4e20355_0_33"/>
          <p:cNvSpPr txBox="1"/>
          <p:nvPr>
            <p:ph type="title"/>
          </p:nvPr>
        </p:nvSpPr>
        <p:spPr>
          <a:xfrm>
            <a:off x="677334" y="609600"/>
            <a:ext cx="8596800" cy="132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omfortaa"/>
                <a:ea typeface="Comfortaa"/>
                <a:cs typeface="Comfortaa"/>
                <a:sym typeface="Comfortaa"/>
              </a:rPr>
              <a:t>Baseline Model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239" name="Google Shape;239;g386b4e20355_0_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26400" y="698425"/>
            <a:ext cx="5186724" cy="2607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g386b4e20355_0_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26400" y="3458225"/>
            <a:ext cx="5290798" cy="31517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86b4e20355_0_44"/>
          <p:cNvSpPr txBox="1"/>
          <p:nvPr>
            <p:ph idx="1" type="body"/>
          </p:nvPr>
        </p:nvSpPr>
        <p:spPr>
          <a:xfrm>
            <a:off x="675745" y="2160983"/>
            <a:ext cx="41856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b="1" lang="en-US">
                <a:solidFill>
                  <a:srgbClr val="6B6FD5"/>
                </a:solidFill>
                <a:latin typeface="Comfortaa"/>
                <a:ea typeface="Comfortaa"/>
                <a:cs typeface="Comfortaa"/>
                <a:sym typeface="Comfortaa"/>
              </a:rPr>
              <a:t>Random Forest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6" name="Google Shape;246;g386b4e20355_0_44"/>
          <p:cNvSpPr txBox="1"/>
          <p:nvPr>
            <p:ph idx="2" type="body"/>
          </p:nvPr>
        </p:nvSpPr>
        <p:spPr>
          <a:xfrm>
            <a:off x="675750" y="2737247"/>
            <a:ext cx="4185600" cy="15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Comfortaa"/>
              <a:buChar char="►"/>
            </a:pPr>
            <a:r>
              <a:rPr b="1" lang="en-US">
                <a:latin typeface="Comfortaa"/>
                <a:ea typeface="Comfortaa"/>
                <a:cs typeface="Comfortaa"/>
                <a:sym typeface="Comfortaa"/>
              </a:rPr>
              <a:t>For </a:t>
            </a:r>
            <a:r>
              <a:rPr b="1" lang="en-US">
                <a:latin typeface="Comfortaa"/>
                <a:ea typeface="Comfortaa"/>
                <a:cs typeface="Comfortaa"/>
                <a:sym typeface="Comfortaa"/>
              </a:rPr>
              <a:t>handling</a:t>
            </a:r>
            <a:r>
              <a:rPr b="1" lang="en-US">
                <a:latin typeface="Comfortaa"/>
                <a:ea typeface="Comfortaa"/>
                <a:cs typeface="Comfortaa"/>
                <a:sym typeface="Comfortaa"/>
              </a:rPr>
              <a:t> categorical &amp; numeric features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Comfortaa"/>
              <a:buChar char="►"/>
            </a:pPr>
            <a:r>
              <a:rPr b="1" lang="en-US">
                <a:latin typeface="Comfortaa"/>
                <a:ea typeface="Comfortaa"/>
                <a:cs typeface="Comfortaa"/>
                <a:sym typeface="Comfortaa"/>
              </a:rPr>
              <a:t>It allows for minimal scaling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Comfortaa"/>
              <a:buChar char="►"/>
            </a:pPr>
            <a:r>
              <a:rPr b="1" lang="en-US">
                <a:latin typeface="Comfortaa"/>
                <a:ea typeface="Comfortaa"/>
                <a:cs typeface="Comfortaa"/>
                <a:sym typeface="Comfortaa"/>
              </a:rPr>
              <a:t>Interpretable via feature </a:t>
            </a:r>
            <a:r>
              <a:rPr b="1" lang="en-US">
                <a:latin typeface="Comfortaa"/>
                <a:ea typeface="Comfortaa"/>
                <a:cs typeface="Comfortaa"/>
                <a:sym typeface="Comfortaa"/>
              </a:rPr>
              <a:t>importances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7" name="Google Shape;247;g386b4e20355_0_44"/>
          <p:cNvSpPr txBox="1"/>
          <p:nvPr>
            <p:ph idx="3" type="body"/>
          </p:nvPr>
        </p:nvSpPr>
        <p:spPr>
          <a:xfrm>
            <a:off x="5088374" y="2065724"/>
            <a:ext cx="4895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b="1" lang="en-US">
                <a:solidFill>
                  <a:srgbClr val="6B6FD5"/>
                </a:solidFill>
                <a:latin typeface="Comfortaa"/>
                <a:ea typeface="Comfortaa"/>
                <a:cs typeface="Comfortaa"/>
                <a:sym typeface="Comfortaa"/>
              </a:rPr>
              <a:t>Gradient Boosting (XGBoost)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8" name="Google Shape;248;g386b4e20355_0_44"/>
          <p:cNvSpPr txBox="1"/>
          <p:nvPr/>
        </p:nvSpPr>
        <p:spPr>
          <a:xfrm>
            <a:off x="585225" y="1532356"/>
            <a:ext cx="8596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The goal is to predict short-term burnout/stress risk from daily check-ins</a:t>
            </a:r>
            <a:endParaRPr b="1" i="0" sz="6000" u="none" cap="none" strike="noStrike">
              <a:solidFill>
                <a:srgbClr val="6B6FD5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249" name="Google Shape;249;g386b4e20355_0_44" title="ChatGPT Image Feb 25, 2026, 04_01_20 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69600" y="5589675"/>
            <a:ext cx="1094600" cy="1094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g386b4e20355_0_44"/>
          <p:cNvSpPr txBox="1"/>
          <p:nvPr>
            <p:ph idx="1" type="body"/>
          </p:nvPr>
        </p:nvSpPr>
        <p:spPr>
          <a:xfrm>
            <a:off x="2882920" y="4277708"/>
            <a:ext cx="41856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b="1" lang="en-US">
                <a:solidFill>
                  <a:srgbClr val="6B6FD5"/>
                </a:solidFill>
                <a:latin typeface="Comfortaa"/>
                <a:ea typeface="Comfortaa"/>
                <a:cs typeface="Comfortaa"/>
                <a:sym typeface="Comfortaa"/>
              </a:rPr>
              <a:t>Small Neural Network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51" name="Google Shape;251;g386b4e20355_0_44"/>
          <p:cNvSpPr txBox="1"/>
          <p:nvPr>
            <p:ph idx="2" type="body"/>
          </p:nvPr>
        </p:nvSpPr>
        <p:spPr>
          <a:xfrm>
            <a:off x="2882925" y="4853972"/>
            <a:ext cx="4185600" cy="15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Comfortaa"/>
              <a:buChar char="►"/>
            </a:pPr>
            <a:r>
              <a:rPr b="1" lang="en-US">
                <a:latin typeface="Comfortaa"/>
                <a:ea typeface="Comfortaa"/>
                <a:cs typeface="Comfortaa"/>
                <a:sym typeface="Comfortaa"/>
              </a:rPr>
              <a:t>Flexible architecture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Comfortaa"/>
              <a:buChar char="►"/>
            </a:pPr>
            <a:r>
              <a:rPr b="1" lang="en-US">
                <a:latin typeface="Comfortaa"/>
                <a:ea typeface="Comfortaa"/>
                <a:cs typeface="Comfortaa"/>
                <a:sym typeface="Comfortaa"/>
              </a:rPr>
              <a:t>Integrated temporal inputs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Comfortaa"/>
              <a:buChar char="►"/>
            </a:pPr>
            <a:r>
              <a:rPr b="1" lang="en-US">
                <a:latin typeface="Comfortaa"/>
                <a:ea typeface="Comfortaa"/>
                <a:cs typeface="Comfortaa"/>
                <a:sym typeface="Comfortaa"/>
              </a:rPr>
              <a:t>Easily learns complex feature interactions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52" name="Google Shape;252;g386b4e20355_0_44"/>
          <p:cNvSpPr txBox="1"/>
          <p:nvPr>
            <p:ph idx="2" type="body"/>
          </p:nvPr>
        </p:nvSpPr>
        <p:spPr>
          <a:xfrm>
            <a:off x="5088375" y="2731497"/>
            <a:ext cx="4185600" cy="15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Comfortaa"/>
              <a:buChar char="►"/>
            </a:pPr>
            <a:r>
              <a:rPr b="1" lang="en-US">
                <a:latin typeface="Comfortaa"/>
                <a:ea typeface="Comfortaa"/>
                <a:cs typeface="Comfortaa"/>
                <a:sym typeface="Comfortaa"/>
              </a:rPr>
              <a:t>Excellent accuracy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Comfortaa"/>
              <a:buChar char="►"/>
            </a:pPr>
            <a:r>
              <a:rPr b="1" lang="en-US">
                <a:latin typeface="Comfortaa"/>
                <a:ea typeface="Comfortaa"/>
                <a:cs typeface="Comfortaa"/>
                <a:sym typeface="Comfortaa"/>
              </a:rPr>
              <a:t>Supports</a:t>
            </a:r>
            <a:r>
              <a:rPr b="1" lang="en-US">
                <a:latin typeface="Comfortaa"/>
                <a:ea typeface="Comfortaa"/>
                <a:cs typeface="Comfortaa"/>
                <a:sym typeface="Comfortaa"/>
              </a:rPr>
              <a:t> missing values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Comfortaa"/>
              <a:buChar char="►"/>
            </a:pPr>
            <a:r>
              <a:rPr b="1" lang="en-US">
                <a:latin typeface="Comfortaa"/>
                <a:ea typeface="Comfortaa"/>
                <a:cs typeface="Comfortaa"/>
                <a:sym typeface="Comfortaa"/>
              </a:rPr>
              <a:t>Rich in feature importance &amp; </a:t>
            </a:r>
            <a:r>
              <a:rPr b="1" lang="en-US">
                <a:latin typeface="Comfortaa"/>
                <a:ea typeface="Comfortaa"/>
                <a:cs typeface="Comfortaa"/>
                <a:sym typeface="Comfortaa"/>
              </a:rPr>
              <a:t>SHAP</a:t>
            </a:r>
            <a:r>
              <a:rPr b="1" lang="en-US">
                <a:latin typeface="Comfortaa"/>
                <a:ea typeface="Comfortaa"/>
                <a:cs typeface="Comfortaa"/>
                <a:sym typeface="Comfortaa"/>
              </a:rPr>
              <a:t> </a:t>
            </a:r>
            <a:r>
              <a:rPr b="1" lang="en-US">
                <a:latin typeface="Comfortaa"/>
                <a:ea typeface="Comfortaa"/>
                <a:cs typeface="Comfortaa"/>
                <a:sym typeface="Comfortaa"/>
              </a:rPr>
              <a:t>explanations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53" name="Google Shape;253;g386b4e20355_0_44"/>
          <p:cNvSpPr txBox="1"/>
          <p:nvPr>
            <p:ph type="title"/>
          </p:nvPr>
        </p:nvSpPr>
        <p:spPr>
          <a:xfrm>
            <a:off x="677334" y="527525"/>
            <a:ext cx="8596800" cy="132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omfortaa"/>
                <a:ea typeface="Comfortaa"/>
                <a:cs typeface="Comfortaa"/>
                <a:sym typeface="Comfortaa"/>
              </a:rPr>
              <a:t>Model Candidates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c4cb5dd65e_1_4"/>
          <p:cNvSpPr txBox="1"/>
          <p:nvPr>
            <p:ph type="title"/>
          </p:nvPr>
        </p:nvSpPr>
        <p:spPr>
          <a:xfrm>
            <a:off x="677334" y="609600"/>
            <a:ext cx="8596800" cy="132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omfortaa"/>
                <a:ea typeface="Comfortaa"/>
                <a:cs typeface="Comfortaa"/>
                <a:sym typeface="Comfortaa"/>
              </a:rPr>
              <a:t>Future Applications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60" name="Google Shape;260;g3c4cb5dd65e_1_4"/>
          <p:cNvSpPr txBox="1"/>
          <p:nvPr>
            <p:ph idx="1" type="body"/>
          </p:nvPr>
        </p:nvSpPr>
        <p:spPr>
          <a:xfrm>
            <a:off x="677334" y="2160589"/>
            <a:ext cx="8596800" cy="3880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457200" rtl="0" algn="l">
              <a:spcBef>
                <a:spcPts val="1000"/>
              </a:spcBef>
              <a:spcAft>
                <a:spcPts val="0"/>
              </a:spcAft>
              <a:buSzPts val="1440"/>
              <a:buFont typeface="Comfortaa"/>
              <a:buChar char="►"/>
            </a:pPr>
            <a:r>
              <a:rPr b="1" lang="en-US">
                <a:latin typeface="Comfortaa"/>
                <a:ea typeface="Comfortaa"/>
                <a:cs typeface="Comfortaa"/>
                <a:sym typeface="Comfortaa"/>
              </a:rPr>
              <a:t>Help students find resources for mental health support.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Font typeface="Comfortaa"/>
              <a:buChar char="►"/>
            </a:pPr>
            <a:r>
              <a:rPr b="1" lang="en-US">
                <a:latin typeface="Comfortaa"/>
                <a:ea typeface="Comfortaa"/>
                <a:cs typeface="Comfortaa"/>
                <a:sym typeface="Comfortaa"/>
              </a:rPr>
              <a:t>Provide resources for emotional/mental support. 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Font typeface="Comfortaa"/>
              <a:buChar char="►"/>
            </a:pPr>
            <a:r>
              <a:rPr b="1" lang="en-US">
                <a:latin typeface="Comfortaa"/>
                <a:ea typeface="Comfortaa"/>
                <a:cs typeface="Comfortaa"/>
                <a:sym typeface="Comfortaa"/>
              </a:rPr>
              <a:t>Connect students who could be facing similar struggles.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261" name="Google Shape;261;g3c4cb5dd65e_1_4" title="ChatGPT Image Feb 25, 2026, 04_01_20 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69600" y="5589675"/>
            <a:ext cx="1094600" cy="109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8" title="ChatGPT Image Feb 25, 2026, 04_01_20 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87775" y="5150050"/>
            <a:ext cx="1094600" cy="1094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8"/>
          <p:cNvSpPr txBox="1"/>
          <p:nvPr/>
        </p:nvSpPr>
        <p:spPr>
          <a:xfrm>
            <a:off x="1282652" y="415150"/>
            <a:ext cx="126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Week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8"/>
          <p:cNvSpPr txBox="1"/>
          <p:nvPr/>
        </p:nvSpPr>
        <p:spPr>
          <a:xfrm>
            <a:off x="4063943" y="464836"/>
            <a:ext cx="109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Week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8"/>
          <p:cNvSpPr txBox="1"/>
          <p:nvPr/>
        </p:nvSpPr>
        <p:spPr>
          <a:xfrm>
            <a:off x="6823698" y="455600"/>
            <a:ext cx="1329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Week 3,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8"/>
          <p:cNvSpPr txBox="1"/>
          <p:nvPr/>
        </p:nvSpPr>
        <p:spPr>
          <a:xfrm>
            <a:off x="1451603" y="3622167"/>
            <a:ext cx="109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Week </a:t>
            </a: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8"/>
          <p:cNvSpPr txBox="1"/>
          <p:nvPr/>
        </p:nvSpPr>
        <p:spPr>
          <a:xfrm>
            <a:off x="3904918" y="3622167"/>
            <a:ext cx="109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Week </a:t>
            </a: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8"/>
          <p:cNvSpPr txBox="1"/>
          <p:nvPr/>
        </p:nvSpPr>
        <p:spPr>
          <a:xfrm>
            <a:off x="6711055" y="3622167"/>
            <a:ext cx="109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Week </a:t>
            </a: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8"/>
          <p:cNvSpPr txBox="1"/>
          <p:nvPr/>
        </p:nvSpPr>
        <p:spPr>
          <a:xfrm>
            <a:off x="1282639" y="741496"/>
            <a:ext cx="1487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0</a:t>
            </a:r>
            <a:r>
              <a:rPr b="1" lang="en-US" sz="9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2/17</a:t>
            </a:r>
            <a:r>
              <a:rPr b="1" i="0" lang="en-US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-0</a:t>
            </a:r>
            <a:r>
              <a:rPr b="1" lang="en-US" sz="9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r>
              <a:rPr b="1" i="0" lang="en-US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/</a:t>
            </a:r>
            <a:r>
              <a:rPr b="1" lang="en-US" sz="9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8"/>
          <p:cNvSpPr txBox="1"/>
          <p:nvPr/>
        </p:nvSpPr>
        <p:spPr>
          <a:xfrm>
            <a:off x="4068902" y="784472"/>
            <a:ext cx="1487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0</a:t>
            </a:r>
            <a:r>
              <a:rPr b="1" lang="en-US" sz="9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r>
              <a:rPr b="1" i="0" lang="en-US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/</a:t>
            </a:r>
            <a:r>
              <a:rPr b="1" lang="en-US" sz="9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24</a:t>
            </a:r>
            <a:r>
              <a:rPr b="1" i="0" lang="en-US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-03/</a:t>
            </a:r>
            <a:r>
              <a:rPr b="1" lang="en-US" sz="9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8"/>
          <p:cNvSpPr txBox="1"/>
          <p:nvPr/>
        </p:nvSpPr>
        <p:spPr>
          <a:xfrm>
            <a:off x="6837509" y="729303"/>
            <a:ext cx="1487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03/</a:t>
            </a:r>
            <a:r>
              <a:rPr b="1" lang="en-US" sz="9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03</a:t>
            </a:r>
            <a:r>
              <a:rPr b="1" i="0" lang="en-US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-03/</a:t>
            </a:r>
            <a:r>
              <a:rPr b="1" lang="en-US" sz="9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8"/>
          <p:cNvSpPr txBox="1"/>
          <p:nvPr/>
        </p:nvSpPr>
        <p:spPr>
          <a:xfrm>
            <a:off x="1521190" y="3876083"/>
            <a:ext cx="1487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04/08-04/14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8"/>
          <p:cNvSpPr txBox="1"/>
          <p:nvPr/>
        </p:nvSpPr>
        <p:spPr>
          <a:xfrm>
            <a:off x="3982787" y="3884011"/>
            <a:ext cx="1487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04/15-04/21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8"/>
          <p:cNvSpPr txBox="1"/>
          <p:nvPr/>
        </p:nvSpPr>
        <p:spPr>
          <a:xfrm>
            <a:off x="6782295" y="3889337"/>
            <a:ext cx="1487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04/22-04/28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643224" y="1088194"/>
            <a:ext cx="2126952" cy="2017656"/>
          </a:xfrm>
          <a:prstGeom prst="flowChartDocument">
            <a:avLst/>
          </a:prstGeom>
          <a:solidFill>
            <a:srgbClr val="D9EAD3"/>
          </a:solidFill>
          <a:ln cap="flat" cmpd="sng" w="38100">
            <a:solidFill>
              <a:srgbClr val="6B6F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Data and EDA </a:t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&gt; Lock down dataset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&gt; EDA analysis done by every member and shared insights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&gt; Plan EDA insights to feature engineering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3489226" y="1091001"/>
            <a:ext cx="2126952" cy="2017656"/>
          </a:xfrm>
          <a:prstGeom prst="flowChartDocument">
            <a:avLst/>
          </a:prstGeom>
          <a:solidFill>
            <a:srgbClr val="D9EAD3"/>
          </a:solidFill>
          <a:ln cap="flat" cmpd="sng" w="38100">
            <a:solidFill>
              <a:srgbClr val="6B6F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Database setup and Train  baseline model</a:t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&gt; Design Features of model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Framework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&gt; Setup Supabase Project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&gt; Engineer </a:t>
            </a:r>
            <a:r>
              <a:rPr lang="en-US" sz="1100">
                <a:solidFill>
                  <a:schemeClr val="dk1"/>
                </a:solidFill>
              </a:rPr>
              <a:t>Baseline</a:t>
            </a:r>
            <a:r>
              <a:rPr lang="en-US" sz="1100">
                <a:solidFill>
                  <a:schemeClr val="dk1"/>
                </a:solidFill>
              </a:rPr>
              <a:t> model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&gt; Set up Github repository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&gt; Pitch presentation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6198094" y="1088194"/>
            <a:ext cx="2126952" cy="2017656"/>
          </a:xfrm>
          <a:prstGeom prst="flowChartDocument">
            <a:avLst/>
          </a:prstGeom>
          <a:solidFill>
            <a:schemeClr val="lt1"/>
          </a:solidFill>
          <a:ln cap="flat" cmpd="sng" w="38100">
            <a:solidFill>
              <a:srgbClr val="6B6F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SUPERVISED ML </a:t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&gt; Train Logistic Regression (baseline)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&gt; Train Random Forest (main)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&gt; Evaluate: Accuracy, F1-score, confusion matrix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&gt; Extract feature importance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8906950" y="1113600"/>
            <a:ext cx="2126952" cy="2017656"/>
          </a:xfrm>
          <a:prstGeom prst="flowChartDocument">
            <a:avLst/>
          </a:prstGeom>
          <a:solidFill>
            <a:schemeClr val="lt1"/>
          </a:solidFill>
          <a:ln cap="flat" cmpd="sng" w="38100">
            <a:solidFill>
              <a:srgbClr val="6B6F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SUPERVISED ML </a:t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&gt; Train  </a:t>
            </a:r>
            <a:r>
              <a:rPr lang="en-US" sz="1100">
                <a:solidFill>
                  <a:schemeClr val="dk1"/>
                </a:solidFill>
              </a:rPr>
              <a:t>Gradient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boosting 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&gt;Train on Neural Networks architecture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&gt; Evaluate: Accuracy, F1-score, confusion matrix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664194" y="4295221"/>
            <a:ext cx="2126952" cy="2017656"/>
          </a:xfrm>
          <a:prstGeom prst="flowChartDocument">
            <a:avLst/>
          </a:prstGeom>
          <a:solidFill>
            <a:schemeClr val="lt1"/>
          </a:solidFill>
          <a:ln cap="flat" cmpd="sng" w="38100">
            <a:solidFill>
              <a:srgbClr val="6B6F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BACKEND </a:t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&gt; Build auth routes (signup, verify-otp, login)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&gt; Add user profile dashboard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&gt; Database integration (Supabase)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&gt; ML Model training in continuation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3391110" y="4259545"/>
            <a:ext cx="2126952" cy="2017656"/>
          </a:xfrm>
          <a:prstGeom prst="flowChartDocument">
            <a:avLst/>
          </a:prstGeom>
          <a:solidFill>
            <a:schemeClr val="lt1"/>
          </a:solidFill>
          <a:ln cap="flat" cmpd="sng" w="38100">
            <a:solidFill>
              <a:srgbClr val="6B6F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FRONTEND (UI/UX)</a:t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&gt; Build chat interface 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&gt; Create dashboard (gauge, factors, trends)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&gt; Responsive design 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&gt;  Polish UX &amp; animations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&gt; Review ML Models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6198094" y="4259545"/>
            <a:ext cx="2126952" cy="2017656"/>
          </a:xfrm>
          <a:prstGeom prst="flowChartDocument">
            <a:avLst/>
          </a:prstGeom>
          <a:solidFill>
            <a:schemeClr val="lt1"/>
          </a:solidFill>
          <a:ln cap="flat" cmpd="sng" w="38100">
            <a:solidFill>
              <a:srgbClr val="6B6F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OPENAI &amp; INTEGRATION</a:t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&gt; Integrate OpenAI API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&gt; Implement caching (save costs)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&gt; End-to-end testing (full flow)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&gt; UAT with 10-20 real users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&gt; Gather feedback on predictions &amp; tips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8891034" y="4259545"/>
            <a:ext cx="2126952" cy="2017656"/>
          </a:xfrm>
          <a:prstGeom prst="flowChartDocument">
            <a:avLst/>
          </a:prstGeom>
          <a:solidFill>
            <a:schemeClr val="lt1"/>
          </a:solidFill>
          <a:ln cap="flat" cmpd="sng" w="38100">
            <a:solidFill>
              <a:srgbClr val="6B6F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LAUNCH &amp; DOCUMENTATION</a:t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&gt;</a:t>
            </a:r>
            <a:r>
              <a:rPr lang="en-US" sz="1100">
                <a:solidFill>
                  <a:schemeClr val="dk1"/>
                </a:solidFill>
              </a:rPr>
              <a:t>Deploy on Streamlit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&gt;  Present final project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&gt;  Share GitHub repo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&gt;  Report Creation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87" name="Google Shape;287;p8"/>
          <p:cNvSpPr txBox="1"/>
          <p:nvPr/>
        </p:nvSpPr>
        <p:spPr>
          <a:xfrm>
            <a:off x="9599997" y="484725"/>
            <a:ext cx="141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Week </a:t>
            </a: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5,6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8"/>
          <p:cNvSpPr txBox="1"/>
          <p:nvPr/>
        </p:nvSpPr>
        <p:spPr>
          <a:xfrm>
            <a:off x="9595054" y="741921"/>
            <a:ext cx="1487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03/</a:t>
            </a:r>
            <a:r>
              <a:rPr b="1" lang="en-US" sz="9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17</a:t>
            </a:r>
            <a:r>
              <a:rPr b="1" i="0" lang="en-US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-0</a:t>
            </a:r>
            <a:r>
              <a:rPr b="1" lang="en-US" sz="9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3/ 27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8"/>
          <p:cNvSpPr txBox="1"/>
          <p:nvPr/>
        </p:nvSpPr>
        <p:spPr>
          <a:xfrm>
            <a:off x="9407869" y="3625482"/>
            <a:ext cx="109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Week </a:t>
            </a: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8"/>
          <p:cNvSpPr txBox="1"/>
          <p:nvPr/>
        </p:nvSpPr>
        <p:spPr>
          <a:xfrm>
            <a:off x="9479109" y="3892652"/>
            <a:ext cx="1487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04/29-05/05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hevron arrows with solid fill" id="291" name="Google Shape;29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5944" y="477147"/>
            <a:ext cx="429795" cy="4297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evron arrows with solid fill" id="292" name="Google Shape;29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43193" y="482130"/>
            <a:ext cx="429795" cy="4297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evron arrows with solid fill" id="293" name="Google Shape;29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32808" y="487001"/>
            <a:ext cx="429795" cy="4297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evron arrows with solid fill" id="294" name="Google Shape;29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10714" y="497430"/>
            <a:ext cx="429795" cy="4297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evron arrows with solid fill" id="295" name="Google Shape;29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7741" y="3661185"/>
            <a:ext cx="429795" cy="4297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evron arrows with solid fill" id="296" name="Google Shape;29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14057" y="3693689"/>
            <a:ext cx="429795" cy="4297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evron arrows with solid fill" id="297" name="Google Shape;29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0172" y="3709291"/>
            <a:ext cx="429795" cy="4297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evron arrows with solid fill" id="298" name="Google Shape;29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49314" y="3751804"/>
            <a:ext cx="429795" cy="429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8" title="ChatGPT Image Feb 25, 2026, 04_01_20 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69600" y="5589675"/>
            <a:ext cx="1094600" cy="109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"/>
          <p:cNvSpPr txBox="1"/>
          <p:nvPr/>
        </p:nvSpPr>
        <p:spPr>
          <a:xfrm>
            <a:off x="819643" y="3068672"/>
            <a:ext cx="9601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GITHUB: </a:t>
            </a:r>
            <a:r>
              <a:rPr b="1" i="0" lang="en-US" sz="5400" u="sng" cap="none" strike="noStrike">
                <a:solidFill>
                  <a:srgbClr val="4A86E8"/>
                </a:solidFill>
                <a:latin typeface="Comfortaa"/>
                <a:ea typeface="Comfortaa"/>
                <a:cs typeface="Comfortaa"/>
                <a:sym typeface="Comforta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</a:t>
            </a:r>
            <a:endParaRPr b="1" i="0" sz="5400" u="none" cap="none" strike="noStrike">
              <a:solidFill>
                <a:srgbClr val="4A86E8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305" name="Google Shape;305;p1" title="ChatGPT Image Feb 25, 2026, 04_01_20 P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69600" y="5589675"/>
            <a:ext cx="1094600" cy="109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c4cb5dd65e_0_13"/>
          <p:cNvSpPr txBox="1"/>
          <p:nvPr>
            <p:ph type="ctrTitle"/>
          </p:nvPr>
        </p:nvSpPr>
        <p:spPr>
          <a:xfrm>
            <a:off x="1507067" y="2404534"/>
            <a:ext cx="7767000" cy="1646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0">
                <a:latin typeface="Comfortaa"/>
                <a:ea typeface="Comfortaa"/>
                <a:cs typeface="Comfortaa"/>
                <a:sym typeface="Comfortaa"/>
              </a:rPr>
              <a:t>Thank You!</a:t>
            </a:r>
            <a:endParaRPr b="1" sz="95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12" name="Google Shape;312;g3c4cb5dd65e_0_13"/>
          <p:cNvSpPr txBox="1"/>
          <p:nvPr>
            <p:ph idx="1" type="subTitle"/>
          </p:nvPr>
        </p:nvSpPr>
        <p:spPr>
          <a:xfrm>
            <a:off x="1507067" y="4050833"/>
            <a:ext cx="7767000" cy="1096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>
                <a:latin typeface="Comfortaa"/>
                <a:ea typeface="Comfortaa"/>
                <a:cs typeface="Comfortaa"/>
                <a:sym typeface="Comfortaa"/>
              </a:rPr>
              <a:t>Stay Tuned!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313" name="Google Shape;313;g3c4cb5dd65e_0_13" title="ChatGPT Image Feb 25, 2026, 04_01_20 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69600" y="5589675"/>
            <a:ext cx="1094600" cy="109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acet">
  <a:themeElements>
    <a:clrScheme name="Violet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2026-02-18T08:28:56Z</dcterms:created>
  <dc:creator>uma Takbhate</dc:creator>
</cp:coreProperties>
</file>